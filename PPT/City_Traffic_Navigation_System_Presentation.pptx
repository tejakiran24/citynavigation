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194296-EFC2-4E9F-AF3D-0E6D5A7BFC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A6C2D0-CD1E-4101-B838-153196D524D6}">
      <dgm:prSet/>
      <dgm:spPr/>
      <dgm:t>
        <a:bodyPr/>
        <a:lstStyle/>
        <a:p>
          <a:r>
            <a:rPr lang="en-US"/>
            <a:t>Reduces travel time by identifying optimized routes.</a:t>
          </a:r>
        </a:p>
      </dgm:t>
    </dgm:pt>
    <dgm:pt modelId="{DABEE8E7-F04B-4967-991B-9DC31ED6739F}" type="parTrans" cxnId="{8A24A27A-376B-4C99-B0ED-67602D6FDB68}">
      <dgm:prSet/>
      <dgm:spPr/>
      <dgm:t>
        <a:bodyPr/>
        <a:lstStyle/>
        <a:p>
          <a:endParaRPr lang="en-US"/>
        </a:p>
      </dgm:t>
    </dgm:pt>
    <dgm:pt modelId="{FD565878-0439-4906-849C-5F95229CAEBD}" type="sibTrans" cxnId="{8A24A27A-376B-4C99-B0ED-67602D6FDB68}">
      <dgm:prSet/>
      <dgm:spPr/>
      <dgm:t>
        <a:bodyPr/>
        <a:lstStyle/>
        <a:p>
          <a:endParaRPr lang="en-US"/>
        </a:p>
      </dgm:t>
    </dgm:pt>
    <dgm:pt modelId="{8E77CB78-2764-4AB8-BB0A-38A34287A17C}">
      <dgm:prSet/>
      <dgm:spPr/>
      <dgm:t>
        <a:bodyPr/>
        <a:lstStyle/>
        <a:p>
          <a:r>
            <a:rPr lang="en-US"/>
            <a:t>Demonstrates practical application of graph data structures.</a:t>
          </a:r>
        </a:p>
      </dgm:t>
    </dgm:pt>
    <dgm:pt modelId="{1198215C-0BB3-4F7D-9CDF-11F304A2004E}" type="parTrans" cxnId="{5BE3937E-0762-4B5D-BAB9-9181B62519AD}">
      <dgm:prSet/>
      <dgm:spPr/>
      <dgm:t>
        <a:bodyPr/>
        <a:lstStyle/>
        <a:p>
          <a:endParaRPr lang="en-US"/>
        </a:p>
      </dgm:t>
    </dgm:pt>
    <dgm:pt modelId="{B8A91F0A-60B4-4FD7-89F9-D9DDC085F11B}" type="sibTrans" cxnId="{5BE3937E-0762-4B5D-BAB9-9181B62519AD}">
      <dgm:prSet/>
      <dgm:spPr/>
      <dgm:t>
        <a:bodyPr/>
        <a:lstStyle/>
        <a:p>
          <a:endParaRPr lang="en-US"/>
        </a:p>
      </dgm:t>
    </dgm:pt>
    <dgm:pt modelId="{651EDF3F-A05D-441E-BB5D-C74F27DF4041}">
      <dgm:prSet/>
      <dgm:spPr/>
      <dgm:t>
        <a:bodyPr/>
        <a:lstStyle/>
        <a:p>
          <a:r>
            <a:rPr lang="en-US"/>
            <a:t>Scalable for large urban transportation networks.</a:t>
          </a:r>
        </a:p>
      </dgm:t>
    </dgm:pt>
    <dgm:pt modelId="{AC9F6384-3533-47D4-81EB-93864DD9C035}" type="parTrans" cxnId="{2273F9A8-E1AC-47F9-895B-9E16AD49A876}">
      <dgm:prSet/>
      <dgm:spPr/>
      <dgm:t>
        <a:bodyPr/>
        <a:lstStyle/>
        <a:p>
          <a:endParaRPr lang="en-US"/>
        </a:p>
      </dgm:t>
    </dgm:pt>
    <dgm:pt modelId="{E8409390-BB25-4610-B796-34988D6074E0}" type="sibTrans" cxnId="{2273F9A8-E1AC-47F9-895B-9E16AD49A876}">
      <dgm:prSet/>
      <dgm:spPr/>
      <dgm:t>
        <a:bodyPr/>
        <a:lstStyle/>
        <a:p>
          <a:endParaRPr lang="en-US"/>
        </a:p>
      </dgm:t>
    </dgm:pt>
    <dgm:pt modelId="{9A95DA2C-5BD6-4FED-A9DF-54938640B03D}">
      <dgm:prSet/>
      <dgm:spPr/>
      <dgm:t>
        <a:bodyPr/>
        <a:lstStyle/>
        <a:p>
          <a:r>
            <a:rPr lang="en-US"/>
            <a:t>Future scope: real-time traffic integration, AI-based prediction, multi-modal transport support, and emergency route optimization.</a:t>
          </a:r>
        </a:p>
      </dgm:t>
    </dgm:pt>
    <dgm:pt modelId="{889007C0-48E4-4DA1-AE65-B2478B8BDA44}" type="parTrans" cxnId="{AB6F8538-AD72-4CDD-8701-B08681CBBCA2}">
      <dgm:prSet/>
      <dgm:spPr/>
      <dgm:t>
        <a:bodyPr/>
        <a:lstStyle/>
        <a:p>
          <a:endParaRPr lang="en-US"/>
        </a:p>
      </dgm:t>
    </dgm:pt>
    <dgm:pt modelId="{0879910C-A36F-4445-986B-B825230F8881}" type="sibTrans" cxnId="{AB6F8538-AD72-4CDD-8701-B08681CBBCA2}">
      <dgm:prSet/>
      <dgm:spPr/>
      <dgm:t>
        <a:bodyPr/>
        <a:lstStyle/>
        <a:p>
          <a:endParaRPr lang="en-US"/>
        </a:p>
      </dgm:t>
    </dgm:pt>
    <dgm:pt modelId="{7E09A9EF-4B7A-435F-9C2F-DCD81AFF6F86}">
      <dgm:prSet/>
      <dgm:spPr/>
      <dgm:t>
        <a:bodyPr/>
        <a:lstStyle/>
        <a:p>
          <a:r>
            <a:rPr lang="en-US"/>
            <a:t>Conclusion: Graph-based navigation systems enable smarter and more efficient urban mobility.</a:t>
          </a:r>
        </a:p>
      </dgm:t>
    </dgm:pt>
    <dgm:pt modelId="{6D7CD63A-8764-4944-B873-A2E663B1716D}" type="parTrans" cxnId="{D649A087-AEA8-44C0-8B74-7F91C5FD35DF}">
      <dgm:prSet/>
      <dgm:spPr/>
      <dgm:t>
        <a:bodyPr/>
        <a:lstStyle/>
        <a:p>
          <a:endParaRPr lang="en-US"/>
        </a:p>
      </dgm:t>
    </dgm:pt>
    <dgm:pt modelId="{DB83691F-A901-450C-839D-55825FED04A3}" type="sibTrans" cxnId="{D649A087-AEA8-44C0-8B74-7F91C5FD35DF}">
      <dgm:prSet/>
      <dgm:spPr/>
      <dgm:t>
        <a:bodyPr/>
        <a:lstStyle/>
        <a:p>
          <a:endParaRPr lang="en-US"/>
        </a:p>
      </dgm:t>
    </dgm:pt>
    <dgm:pt modelId="{3738407A-76C6-4778-BB01-FE5BCA55DB8C}" type="pres">
      <dgm:prSet presAssocID="{F8194296-EFC2-4E9F-AF3D-0E6D5A7BFC03}" presName="root" presStyleCnt="0">
        <dgm:presLayoutVars>
          <dgm:dir/>
          <dgm:resizeHandles val="exact"/>
        </dgm:presLayoutVars>
      </dgm:prSet>
      <dgm:spPr/>
    </dgm:pt>
    <dgm:pt modelId="{CEF9A1E0-B214-47F6-9C68-E9ADB781A6BD}" type="pres">
      <dgm:prSet presAssocID="{2EA6C2D0-CD1E-4101-B838-153196D524D6}" presName="compNode" presStyleCnt="0"/>
      <dgm:spPr/>
    </dgm:pt>
    <dgm:pt modelId="{B54A04CB-E1E4-40A1-939F-98270DD3B00E}" type="pres">
      <dgm:prSet presAssocID="{2EA6C2D0-CD1E-4101-B838-153196D524D6}" presName="bgRect" presStyleLbl="bgShp" presStyleIdx="0" presStyleCnt="5"/>
      <dgm:spPr/>
    </dgm:pt>
    <dgm:pt modelId="{AB063EDC-C784-42C6-A673-10AA2F5056EC}" type="pres">
      <dgm:prSet presAssocID="{2EA6C2D0-CD1E-4101-B838-153196D524D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716E1EB5-1BAA-4992-BBF2-C60F885DC468}" type="pres">
      <dgm:prSet presAssocID="{2EA6C2D0-CD1E-4101-B838-153196D524D6}" presName="spaceRect" presStyleCnt="0"/>
      <dgm:spPr/>
    </dgm:pt>
    <dgm:pt modelId="{30DD9673-87D0-467E-A7EB-46FAA1BE5DEF}" type="pres">
      <dgm:prSet presAssocID="{2EA6C2D0-CD1E-4101-B838-153196D524D6}" presName="parTx" presStyleLbl="revTx" presStyleIdx="0" presStyleCnt="5">
        <dgm:presLayoutVars>
          <dgm:chMax val="0"/>
          <dgm:chPref val="0"/>
        </dgm:presLayoutVars>
      </dgm:prSet>
      <dgm:spPr/>
    </dgm:pt>
    <dgm:pt modelId="{4B47D336-5D0A-49D9-AC15-8C35F02FB3A5}" type="pres">
      <dgm:prSet presAssocID="{FD565878-0439-4906-849C-5F95229CAEBD}" presName="sibTrans" presStyleCnt="0"/>
      <dgm:spPr/>
    </dgm:pt>
    <dgm:pt modelId="{893FE361-79D1-4B23-9E8E-D036992AB1F0}" type="pres">
      <dgm:prSet presAssocID="{8E77CB78-2764-4AB8-BB0A-38A34287A17C}" presName="compNode" presStyleCnt="0"/>
      <dgm:spPr/>
    </dgm:pt>
    <dgm:pt modelId="{0D1B7DD6-2C74-4C76-9D4D-58504F8731A0}" type="pres">
      <dgm:prSet presAssocID="{8E77CB78-2764-4AB8-BB0A-38A34287A17C}" presName="bgRect" presStyleLbl="bgShp" presStyleIdx="1" presStyleCnt="5"/>
      <dgm:spPr/>
    </dgm:pt>
    <dgm:pt modelId="{AAB2455B-1BE3-4154-9EFC-5CC89BDA3BAE}" type="pres">
      <dgm:prSet presAssocID="{8E77CB78-2764-4AB8-BB0A-38A34287A17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710E6D8-517E-41E8-B386-14DCFB7B2B9E}" type="pres">
      <dgm:prSet presAssocID="{8E77CB78-2764-4AB8-BB0A-38A34287A17C}" presName="spaceRect" presStyleCnt="0"/>
      <dgm:spPr/>
    </dgm:pt>
    <dgm:pt modelId="{6A1F20AD-DCD3-4F2A-A216-048D82C641A2}" type="pres">
      <dgm:prSet presAssocID="{8E77CB78-2764-4AB8-BB0A-38A34287A17C}" presName="parTx" presStyleLbl="revTx" presStyleIdx="1" presStyleCnt="5">
        <dgm:presLayoutVars>
          <dgm:chMax val="0"/>
          <dgm:chPref val="0"/>
        </dgm:presLayoutVars>
      </dgm:prSet>
      <dgm:spPr/>
    </dgm:pt>
    <dgm:pt modelId="{B8BC1D11-59FC-4C3A-BB50-8E91DB308758}" type="pres">
      <dgm:prSet presAssocID="{B8A91F0A-60B4-4FD7-89F9-D9DDC085F11B}" presName="sibTrans" presStyleCnt="0"/>
      <dgm:spPr/>
    </dgm:pt>
    <dgm:pt modelId="{F12AF35B-7EC8-47B5-939A-339E90D3FE98}" type="pres">
      <dgm:prSet presAssocID="{651EDF3F-A05D-441E-BB5D-C74F27DF4041}" presName="compNode" presStyleCnt="0"/>
      <dgm:spPr/>
    </dgm:pt>
    <dgm:pt modelId="{BB322701-883D-4408-9A3C-932582F4968D}" type="pres">
      <dgm:prSet presAssocID="{651EDF3F-A05D-441E-BB5D-C74F27DF4041}" presName="bgRect" presStyleLbl="bgShp" presStyleIdx="2" presStyleCnt="5"/>
      <dgm:spPr/>
    </dgm:pt>
    <dgm:pt modelId="{565E3A0F-250B-4226-813D-CBDDB356DEA4}" type="pres">
      <dgm:prSet presAssocID="{651EDF3F-A05D-441E-BB5D-C74F27DF404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9024B6F2-BECF-4C0C-9072-B86C5D3FC25B}" type="pres">
      <dgm:prSet presAssocID="{651EDF3F-A05D-441E-BB5D-C74F27DF4041}" presName="spaceRect" presStyleCnt="0"/>
      <dgm:spPr/>
    </dgm:pt>
    <dgm:pt modelId="{CEBAA085-0372-4734-B555-E62FFEDDC7B0}" type="pres">
      <dgm:prSet presAssocID="{651EDF3F-A05D-441E-BB5D-C74F27DF4041}" presName="parTx" presStyleLbl="revTx" presStyleIdx="2" presStyleCnt="5">
        <dgm:presLayoutVars>
          <dgm:chMax val="0"/>
          <dgm:chPref val="0"/>
        </dgm:presLayoutVars>
      </dgm:prSet>
      <dgm:spPr/>
    </dgm:pt>
    <dgm:pt modelId="{2DCB586E-3DDE-407A-8F6F-F9B965408996}" type="pres">
      <dgm:prSet presAssocID="{E8409390-BB25-4610-B796-34988D6074E0}" presName="sibTrans" presStyleCnt="0"/>
      <dgm:spPr/>
    </dgm:pt>
    <dgm:pt modelId="{74F195AF-E303-445C-AD6F-A1A3F50B037C}" type="pres">
      <dgm:prSet presAssocID="{9A95DA2C-5BD6-4FED-A9DF-54938640B03D}" presName="compNode" presStyleCnt="0"/>
      <dgm:spPr/>
    </dgm:pt>
    <dgm:pt modelId="{36EDA97F-C67E-4616-B5D1-56935256BDF8}" type="pres">
      <dgm:prSet presAssocID="{9A95DA2C-5BD6-4FED-A9DF-54938640B03D}" presName="bgRect" presStyleLbl="bgShp" presStyleIdx="3" presStyleCnt="5"/>
      <dgm:spPr/>
    </dgm:pt>
    <dgm:pt modelId="{FD940DA0-F9C5-492A-ACAF-E9268E9F6708}" type="pres">
      <dgm:prSet presAssocID="{9A95DA2C-5BD6-4FED-A9DF-54938640B03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A5ABF33-F050-4BC4-B24F-476218CD0689}" type="pres">
      <dgm:prSet presAssocID="{9A95DA2C-5BD6-4FED-A9DF-54938640B03D}" presName="spaceRect" presStyleCnt="0"/>
      <dgm:spPr/>
    </dgm:pt>
    <dgm:pt modelId="{586F2C8A-E270-4226-A55B-DF29A036BBD0}" type="pres">
      <dgm:prSet presAssocID="{9A95DA2C-5BD6-4FED-A9DF-54938640B03D}" presName="parTx" presStyleLbl="revTx" presStyleIdx="3" presStyleCnt="5">
        <dgm:presLayoutVars>
          <dgm:chMax val="0"/>
          <dgm:chPref val="0"/>
        </dgm:presLayoutVars>
      </dgm:prSet>
      <dgm:spPr/>
    </dgm:pt>
    <dgm:pt modelId="{6E4BA697-17DC-4039-BEDF-6FA6B7C2CA2C}" type="pres">
      <dgm:prSet presAssocID="{0879910C-A36F-4445-986B-B825230F8881}" presName="sibTrans" presStyleCnt="0"/>
      <dgm:spPr/>
    </dgm:pt>
    <dgm:pt modelId="{48000BF9-56CE-4D67-BC00-03C021B5FF86}" type="pres">
      <dgm:prSet presAssocID="{7E09A9EF-4B7A-435F-9C2F-DCD81AFF6F86}" presName="compNode" presStyleCnt="0"/>
      <dgm:spPr/>
    </dgm:pt>
    <dgm:pt modelId="{F4794A37-B603-4068-8721-D0A93DD872C5}" type="pres">
      <dgm:prSet presAssocID="{7E09A9EF-4B7A-435F-9C2F-DCD81AFF6F86}" presName="bgRect" presStyleLbl="bgShp" presStyleIdx="4" presStyleCnt="5"/>
      <dgm:spPr/>
    </dgm:pt>
    <dgm:pt modelId="{573F0DE6-1CEA-4EEC-A5ED-90CA06FA9D14}" type="pres">
      <dgm:prSet presAssocID="{7E09A9EF-4B7A-435F-9C2F-DCD81AFF6F8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9BEC67CC-4CBA-4D2B-B150-4A2357647F62}" type="pres">
      <dgm:prSet presAssocID="{7E09A9EF-4B7A-435F-9C2F-DCD81AFF6F86}" presName="spaceRect" presStyleCnt="0"/>
      <dgm:spPr/>
    </dgm:pt>
    <dgm:pt modelId="{ACA84C97-86A4-4D00-B44A-37DEB796DE7E}" type="pres">
      <dgm:prSet presAssocID="{7E09A9EF-4B7A-435F-9C2F-DCD81AFF6F8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DF9CD19-4530-4929-AB74-4C3A3A906032}" type="presOf" srcId="{8E77CB78-2764-4AB8-BB0A-38A34287A17C}" destId="{6A1F20AD-DCD3-4F2A-A216-048D82C641A2}" srcOrd="0" destOrd="0" presId="urn:microsoft.com/office/officeart/2018/2/layout/IconVerticalSolidList"/>
    <dgm:cxn modelId="{8B9F0132-5495-4E8B-B840-99C22DFB7D55}" type="presOf" srcId="{9A95DA2C-5BD6-4FED-A9DF-54938640B03D}" destId="{586F2C8A-E270-4226-A55B-DF29A036BBD0}" srcOrd="0" destOrd="0" presId="urn:microsoft.com/office/officeart/2018/2/layout/IconVerticalSolidList"/>
    <dgm:cxn modelId="{AB6F8538-AD72-4CDD-8701-B08681CBBCA2}" srcId="{F8194296-EFC2-4E9F-AF3D-0E6D5A7BFC03}" destId="{9A95DA2C-5BD6-4FED-A9DF-54938640B03D}" srcOrd="3" destOrd="0" parTransId="{889007C0-48E4-4DA1-AE65-B2478B8BDA44}" sibTransId="{0879910C-A36F-4445-986B-B825230F8881}"/>
    <dgm:cxn modelId="{08D4CF78-93D2-47AC-97D2-A6E9343C1401}" type="presOf" srcId="{7E09A9EF-4B7A-435F-9C2F-DCD81AFF6F86}" destId="{ACA84C97-86A4-4D00-B44A-37DEB796DE7E}" srcOrd="0" destOrd="0" presId="urn:microsoft.com/office/officeart/2018/2/layout/IconVerticalSolidList"/>
    <dgm:cxn modelId="{8A24A27A-376B-4C99-B0ED-67602D6FDB68}" srcId="{F8194296-EFC2-4E9F-AF3D-0E6D5A7BFC03}" destId="{2EA6C2D0-CD1E-4101-B838-153196D524D6}" srcOrd="0" destOrd="0" parTransId="{DABEE8E7-F04B-4967-991B-9DC31ED6739F}" sibTransId="{FD565878-0439-4906-849C-5F95229CAEBD}"/>
    <dgm:cxn modelId="{5BE3937E-0762-4B5D-BAB9-9181B62519AD}" srcId="{F8194296-EFC2-4E9F-AF3D-0E6D5A7BFC03}" destId="{8E77CB78-2764-4AB8-BB0A-38A34287A17C}" srcOrd="1" destOrd="0" parTransId="{1198215C-0BB3-4F7D-9CDF-11F304A2004E}" sibTransId="{B8A91F0A-60B4-4FD7-89F9-D9DDC085F11B}"/>
    <dgm:cxn modelId="{70E5A17F-3E78-484E-A390-EB36ACE83B14}" type="presOf" srcId="{F8194296-EFC2-4E9F-AF3D-0E6D5A7BFC03}" destId="{3738407A-76C6-4778-BB01-FE5BCA55DB8C}" srcOrd="0" destOrd="0" presId="urn:microsoft.com/office/officeart/2018/2/layout/IconVerticalSolidList"/>
    <dgm:cxn modelId="{D649A087-AEA8-44C0-8B74-7F91C5FD35DF}" srcId="{F8194296-EFC2-4E9F-AF3D-0E6D5A7BFC03}" destId="{7E09A9EF-4B7A-435F-9C2F-DCD81AFF6F86}" srcOrd="4" destOrd="0" parTransId="{6D7CD63A-8764-4944-B873-A2E663B1716D}" sibTransId="{DB83691F-A901-450C-839D-55825FED04A3}"/>
    <dgm:cxn modelId="{2273F9A8-E1AC-47F9-895B-9E16AD49A876}" srcId="{F8194296-EFC2-4E9F-AF3D-0E6D5A7BFC03}" destId="{651EDF3F-A05D-441E-BB5D-C74F27DF4041}" srcOrd="2" destOrd="0" parTransId="{AC9F6384-3533-47D4-81EB-93864DD9C035}" sibTransId="{E8409390-BB25-4610-B796-34988D6074E0}"/>
    <dgm:cxn modelId="{D8B938BA-37FB-4227-819C-7907E2B46E81}" type="presOf" srcId="{651EDF3F-A05D-441E-BB5D-C74F27DF4041}" destId="{CEBAA085-0372-4734-B555-E62FFEDDC7B0}" srcOrd="0" destOrd="0" presId="urn:microsoft.com/office/officeart/2018/2/layout/IconVerticalSolidList"/>
    <dgm:cxn modelId="{2C122FCB-6BA9-4513-A935-12AC54859864}" type="presOf" srcId="{2EA6C2D0-CD1E-4101-B838-153196D524D6}" destId="{30DD9673-87D0-467E-A7EB-46FAA1BE5DEF}" srcOrd="0" destOrd="0" presId="urn:microsoft.com/office/officeart/2018/2/layout/IconVerticalSolidList"/>
    <dgm:cxn modelId="{6BD69881-4D1B-45F5-9365-976DC73346EE}" type="presParOf" srcId="{3738407A-76C6-4778-BB01-FE5BCA55DB8C}" destId="{CEF9A1E0-B214-47F6-9C68-E9ADB781A6BD}" srcOrd="0" destOrd="0" presId="urn:microsoft.com/office/officeart/2018/2/layout/IconVerticalSolidList"/>
    <dgm:cxn modelId="{6C177801-9DB9-4886-8132-9CDB68CA8873}" type="presParOf" srcId="{CEF9A1E0-B214-47F6-9C68-E9ADB781A6BD}" destId="{B54A04CB-E1E4-40A1-939F-98270DD3B00E}" srcOrd="0" destOrd="0" presId="urn:microsoft.com/office/officeart/2018/2/layout/IconVerticalSolidList"/>
    <dgm:cxn modelId="{737C00D2-A50C-4C5B-A4C5-713D865D08D0}" type="presParOf" srcId="{CEF9A1E0-B214-47F6-9C68-E9ADB781A6BD}" destId="{AB063EDC-C784-42C6-A673-10AA2F5056EC}" srcOrd="1" destOrd="0" presId="urn:microsoft.com/office/officeart/2018/2/layout/IconVerticalSolidList"/>
    <dgm:cxn modelId="{A8408C97-C09D-4C5C-A3E0-44E36A9ADDC6}" type="presParOf" srcId="{CEF9A1E0-B214-47F6-9C68-E9ADB781A6BD}" destId="{716E1EB5-1BAA-4992-BBF2-C60F885DC468}" srcOrd="2" destOrd="0" presId="urn:microsoft.com/office/officeart/2018/2/layout/IconVerticalSolidList"/>
    <dgm:cxn modelId="{C5E739F9-3B98-4873-BA94-6BD06A61DFB2}" type="presParOf" srcId="{CEF9A1E0-B214-47F6-9C68-E9ADB781A6BD}" destId="{30DD9673-87D0-467E-A7EB-46FAA1BE5DEF}" srcOrd="3" destOrd="0" presId="urn:microsoft.com/office/officeart/2018/2/layout/IconVerticalSolidList"/>
    <dgm:cxn modelId="{5ED87829-6FBB-4E09-9B89-E410CB17819A}" type="presParOf" srcId="{3738407A-76C6-4778-BB01-FE5BCA55DB8C}" destId="{4B47D336-5D0A-49D9-AC15-8C35F02FB3A5}" srcOrd="1" destOrd="0" presId="urn:microsoft.com/office/officeart/2018/2/layout/IconVerticalSolidList"/>
    <dgm:cxn modelId="{8BCE7CD9-8AC8-400B-B9C4-CEAB3C8CEE02}" type="presParOf" srcId="{3738407A-76C6-4778-BB01-FE5BCA55DB8C}" destId="{893FE361-79D1-4B23-9E8E-D036992AB1F0}" srcOrd="2" destOrd="0" presId="urn:microsoft.com/office/officeart/2018/2/layout/IconVerticalSolidList"/>
    <dgm:cxn modelId="{EEA73BC0-3F9C-4D2F-ADD6-6AF4EF7CDFD1}" type="presParOf" srcId="{893FE361-79D1-4B23-9E8E-D036992AB1F0}" destId="{0D1B7DD6-2C74-4C76-9D4D-58504F8731A0}" srcOrd="0" destOrd="0" presId="urn:microsoft.com/office/officeart/2018/2/layout/IconVerticalSolidList"/>
    <dgm:cxn modelId="{A9BEF387-1324-4AA0-853F-60BA86667E30}" type="presParOf" srcId="{893FE361-79D1-4B23-9E8E-D036992AB1F0}" destId="{AAB2455B-1BE3-4154-9EFC-5CC89BDA3BAE}" srcOrd="1" destOrd="0" presId="urn:microsoft.com/office/officeart/2018/2/layout/IconVerticalSolidList"/>
    <dgm:cxn modelId="{BB02D68F-7A28-4583-B9BE-575DD26157C9}" type="presParOf" srcId="{893FE361-79D1-4B23-9E8E-D036992AB1F0}" destId="{E710E6D8-517E-41E8-B386-14DCFB7B2B9E}" srcOrd="2" destOrd="0" presId="urn:microsoft.com/office/officeart/2018/2/layout/IconVerticalSolidList"/>
    <dgm:cxn modelId="{783AD689-2211-4624-BF76-EE604746FB44}" type="presParOf" srcId="{893FE361-79D1-4B23-9E8E-D036992AB1F0}" destId="{6A1F20AD-DCD3-4F2A-A216-048D82C641A2}" srcOrd="3" destOrd="0" presId="urn:microsoft.com/office/officeart/2018/2/layout/IconVerticalSolidList"/>
    <dgm:cxn modelId="{A23068D8-9347-42D8-B492-1FE16736227A}" type="presParOf" srcId="{3738407A-76C6-4778-BB01-FE5BCA55DB8C}" destId="{B8BC1D11-59FC-4C3A-BB50-8E91DB308758}" srcOrd="3" destOrd="0" presId="urn:microsoft.com/office/officeart/2018/2/layout/IconVerticalSolidList"/>
    <dgm:cxn modelId="{41C57BA1-1F1D-474B-AB1E-26F795D3F02D}" type="presParOf" srcId="{3738407A-76C6-4778-BB01-FE5BCA55DB8C}" destId="{F12AF35B-7EC8-47B5-939A-339E90D3FE98}" srcOrd="4" destOrd="0" presId="urn:microsoft.com/office/officeart/2018/2/layout/IconVerticalSolidList"/>
    <dgm:cxn modelId="{36999FC5-7708-48F4-9B11-3A4D3EDE394E}" type="presParOf" srcId="{F12AF35B-7EC8-47B5-939A-339E90D3FE98}" destId="{BB322701-883D-4408-9A3C-932582F4968D}" srcOrd="0" destOrd="0" presId="urn:microsoft.com/office/officeart/2018/2/layout/IconVerticalSolidList"/>
    <dgm:cxn modelId="{ADE9977E-8B4E-464A-A288-87B6781D3D21}" type="presParOf" srcId="{F12AF35B-7EC8-47B5-939A-339E90D3FE98}" destId="{565E3A0F-250B-4226-813D-CBDDB356DEA4}" srcOrd="1" destOrd="0" presId="urn:microsoft.com/office/officeart/2018/2/layout/IconVerticalSolidList"/>
    <dgm:cxn modelId="{1E35447C-0805-4738-9D29-78560441B701}" type="presParOf" srcId="{F12AF35B-7EC8-47B5-939A-339E90D3FE98}" destId="{9024B6F2-BECF-4C0C-9072-B86C5D3FC25B}" srcOrd="2" destOrd="0" presId="urn:microsoft.com/office/officeart/2018/2/layout/IconVerticalSolidList"/>
    <dgm:cxn modelId="{1B2778DA-B5A0-4572-BD5F-FCE79D42A87D}" type="presParOf" srcId="{F12AF35B-7EC8-47B5-939A-339E90D3FE98}" destId="{CEBAA085-0372-4734-B555-E62FFEDDC7B0}" srcOrd="3" destOrd="0" presId="urn:microsoft.com/office/officeart/2018/2/layout/IconVerticalSolidList"/>
    <dgm:cxn modelId="{65BE5E77-B67D-459B-AC2D-9DE5C3BF5E82}" type="presParOf" srcId="{3738407A-76C6-4778-BB01-FE5BCA55DB8C}" destId="{2DCB586E-3DDE-407A-8F6F-F9B965408996}" srcOrd="5" destOrd="0" presId="urn:microsoft.com/office/officeart/2018/2/layout/IconVerticalSolidList"/>
    <dgm:cxn modelId="{32FFC2FB-AD7B-40FA-8213-586E738974F6}" type="presParOf" srcId="{3738407A-76C6-4778-BB01-FE5BCA55DB8C}" destId="{74F195AF-E303-445C-AD6F-A1A3F50B037C}" srcOrd="6" destOrd="0" presId="urn:microsoft.com/office/officeart/2018/2/layout/IconVerticalSolidList"/>
    <dgm:cxn modelId="{E38DA892-0C45-43A7-975E-36A9C468509D}" type="presParOf" srcId="{74F195AF-E303-445C-AD6F-A1A3F50B037C}" destId="{36EDA97F-C67E-4616-B5D1-56935256BDF8}" srcOrd="0" destOrd="0" presId="urn:microsoft.com/office/officeart/2018/2/layout/IconVerticalSolidList"/>
    <dgm:cxn modelId="{473D17C5-3AA4-424A-A99A-20DC6CD544F3}" type="presParOf" srcId="{74F195AF-E303-445C-AD6F-A1A3F50B037C}" destId="{FD940DA0-F9C5-492A-ACAF-E9268E9F6708}" srcOrd="1" destOrd="0" presId="urn:microsoft.com/office/officeart/2018/2/layout/IconVerticalSolidList"/>
    <dgm:cxn modelId="{A07271D1-D616-4D71-B7CC-80C80DBDB146}" type="presParOf" srcId="{74F195AF-E303-445C-AD6F-A1A3F50B037C}" destId="{2A5ABF33-F050-4BC4-B24F-476218CD0689}" srcOrd="2" destOrd="0" presId="urn:microsoft.com/office/officeart/2018/2/layout/IconVerticalSolidList"/>
    <dgm:cxn modelId="{84A4C963-37D0-4CCE-8CB4-83262AF4E6B9}" type="presParOf" srcId="{74F195AF-E303-445C-AD6F-A1A3F50B037C}" destId="{586F2C8A-E270-4226-A55B-DF29A036BBD0}" srcOrd="3" destOrd="0" presId="urn:microsoft.com/office/officeart/2018/2/layout/IconVerticalSolidList"/>
    <dgm:cxn modelId="{F85C27AD-F454-42A7-8173-C31E34BFC04E}" type="presParOf" srcId="{3738407A-76C6-4778-BB01-FE5BCA55DB8C}" destId="{6E4BA697-17DC-4039-BEDF-6FA6B7C2CA2C}" srcOrd="7" destOrd="0" presId="urn:microsoft.com/office/officeart/2018/2/layout/IconVerticalSolidList"/>
    <dgm:cxn modelId="{63DBB7F1-7B57-425F-8585-0AF14E33137E}" type="presParOf" srcId="{3738407A-76C6-4778-BB01-FE5BCA55DB8C}" destId="{48000BF9-56CE-4D67-BC00-03C021B5FF86}" srcOrd="8" destOrd="0" presId="urn:microsoft.com/office/officeart/2018/2/layout/IconVerticalSolidList"/>
    <dgm:cxn modelId="{49D5E46F-11A1-4FB2-8C25-88D74DB57198}" type="presParOf" srcId="{48000BF9-56CE-4D67-BC00-03C021B5FF86}" destId="{F4794A37-B603-4068-8721-D0A93DD872C5}" srcOrd="0" destOrd="0" presId="urn:microsoft.com/office/officeart/2018/2/layout/IconVerticalSolidList"/>
    <dgm:cxn modelId="{97AFA3A1-37FD-43E8-8F13-7EDC116ABC81}" type="presParOf" srcId="{48000BF9-56CE-4D67-BC00-03C021B5FF86}" destId="{573F0DE6-1CEA-4EEC-A5ED-90CA06FA9D14}" srcOrd="1" destOrd="0" presId="urn:microsoft.com/office/officeart/2018/2/layout/IconVerticalSolidList"/>
    <dgm:cxn modelId="{EF6F74F3-B17A-443D-8D76-890A5C4494F2}" type="presParOf" srcId="{48000BF9-56CE-4D67-BC00-03C021B5FF86}" destId="{9BEC67CC-4CBA-4D2B-B150-4A2357647F62}" srcOrd="2" destOrd="0" presId="urn:microsoft.com/office/officeart/2018/2/layout/IconVerticalSolidList"/>
    <dgm:cxn modelId="{AB8F06FA-D180-43F5-9BA3-CDA3A3EED740}" type="presParOf" srcId="{48000BF9-56CE-4D67-BC00-03C021B5FF86}" destId="{ACA84C97-86A4-4D00-B44A-37DEB796DE7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A04CB-E1E4-40A1-939F-98270DD3B00E}">
      <dsp:nvSpPr>
        <dsp:cNvPr id="0" name=""/>
        <dsp:cNvSpPr/>
      </dsp:nvSpPr>
      <dsp:spPr>
        <a:xfrm>
          <a:off x="0" y="3399"/>
          <a:ext cx="7674768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63EDC-C784-42C6-A673-10AA2F5056EC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D9673-87D0-467E-A7EB-46FAA1BE5DEF}">
      <dsp:nvSpPr>
        <dsp:cNvPr id="0" name=""/>
        <dsp:cNvSpPr/>
      </dsp:nvSpPr>
      <dsp:spPr>
        <a:xfrm>
          <a:off x="836323" y="3399"/>
          <a:ext cx="6838444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Reduces travel time by identifying optimized routes.</a:t>
          </a:r>
        </a:p>
      </dsp:txBody>
      <dsp:txXfrm>
        <a:off x="836323" y="3399"/>
        <a:ext cx="6838444" cy="724089"/>
      </dsp:txXfrm>
    </dsp:sp>
    <dsp:sp modelId="{0D1B7DD6-2C74-4C76-9D4D-58504F8731A0}">
      <dsp:nvSpPr>
        <dsp:cNvPr id="0" name=""/>
        <dsp:cNvSpPr/>
      </dsp:nvSpPr>
      <dsp:spPr>
        <a:xfrm>
          <a:off x="0" y="908511"/>
          <a:ext cx="7674768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B2455B-1BE3-4154-9EFC-5CC89BDA3BAE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1F20AD-DCD3-4F2A-A216-048D82C641A2}">
      <dsp:nvSpPr>
        <dsp:cNvPr id="0" name=""/>
        <dsp:cNvSpPr/>
      </dsp:nvSpPr>
      <dsp:spPr>
        <a:xfrm>
          <a:off x="836323" y="908511"/>
          <a:ext cx="6838444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Demonstrates practical application of graph data structures.</a:t>
          </a:r>
        </a:p>
      </dsp:txBody>
      <dsp:txXfrm>
        <a:off x="836323" y="908511"/>
        <a:ext cx="6838444" cy="724089"/>
      </dsp:txXfrm>
    </dsp:sp>
    <dsp:sp modelId="{BB322701-883D-4408-9A3C-932582F4968D}">
      <dsp:nvSpPr>
        <dsp:cNvPr id="0" name=""/>
        <dsp:cNvSpPr/>
      </dsp:nvSpPr>
      <dsp:spPr>
        <a:xfrm>
          <a:off x="0" y="1813624"/>
          <a:ext cx="7674768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E3A0F-250B-4226-813D-CBDDB356DEA4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AA085-0372-4734-B555-E62FFEDDC7B0}">
      <dsp:nvSpPr>
        <dsp:cNvPr id="0" name=""/>
        <dsp:cNvSpPr/>
      </dsp:nvSpPr>
      <dsp:spPr>
        <a:xfrm>
          <a:off x="836323" y="1813624"/>
          <a:ext cx="6838444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Scalable for large urban transportation networks.</a:t>
          </a:r>
        </a:p>
      </dsp:txBody>
      <dsp:txXfrm>
        <a:off x="836323" y="1813624"/>
        <a:ext cx="6838444" cy="724089"/>
      </dsp:txXfrm>
    </dsp:sp>
    <dsp:sp modelId="{36EDA97F-C67E-4616-B5D1-56935256BDF8}">
      <dsp:nvSpPr>
        <dsp:cNvPr id="0" name=""/>
        <dsp:cNvSpPr/>
      </dsp:nvSpPr>
      <dsp:spPr>
        <a:xfrm>
          <a:off x="0" y="2718736"/>
          <a:ext cx="7674768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940DA0-F9C5-492A-ACAF-E9268E9F6708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6F2C8A-E270-4226-A55B-DF29A036BBD0}">
      <dsp:nvSpPr>
        <dsp:cNvPr id="0" name=""/>
        <dsp:cNvSpPr/>
      </dsp:nvSpPr>
      <dsp:spPr>
        <a:xfrm>
          <a:off x="836323" y="2718736"/>
          <a:ext cx="6838444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Future scope: real-time traffic integration, AI-based prediction, multi-modal transport support, and emergency route optimization.</a:t>
          </a:r>
        </a:p>
      </dsp:txBody>
      <dsp:txXfrm>
        <a:off x="836323" y="2718736"/>
        <a:ext cx="6838444" cy="724089"/>
      </dsp:txXfrm>
    </dsp:sp>
    <dsp:sp modelId="{F4794A37-B603-4068-8721-D0A93DD872C5}">
      <dsp:nvSpPr>
        <dsp:cNvPr id="0" name=""/>
        <dsp:cNvSpPr/>
      </dsp:nvSpPr>
      <dsp:spPr>
        <a:xfrm>
          <a:off x="0" y="3623848"/>
          <a:ext cx="7674768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3F0DE6-1CEA-4EEC-A5ED-90CA06FA9D14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A84C97-86A4-4D00-B44A-37DEB796DE7E}">
      <dsp:nvSpPr>
        <dsp:cNvPr id="0" name=""/>
        <dsp:cNvSpPr/>
      </dsp:nvSpPr>
      <dsp:spPr>
        <a:xfrm>
          <a:off x="836323" y="3623848"/>
          <a:ext cx="6838444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Conclusion: Graph-based navigation systems enable smarter and more efficient urban mobility.</a:t>
          </a:r>
        </a:p>
      </dsp:txBody>
      <dsp:txXfrm>
        <a:off x="836323" y="3623848"/>
        <a:ext cx="6838444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51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44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7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8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67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6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9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8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3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4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90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413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83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35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84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59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9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52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urbanpulse-navigation-production.up.railway.app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b="1" dirty="0">
                <a:solidFill>
                  <a:schemeClr val="tx1"/>
                </a:solidFill>
              </a:rPr>
              <a:t>City Traffic Navigation System using Graph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640" y="1965959"/>
            <a:ext cx="8898360" cy="421100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Project</a:t>
            </a:r>
            <a:r>
              <a:rPr dirty="0"/>
              <a:t>: </a:t>
            </a:r>
            <a:r>
              <a:rPr lang="en-IN" dirty="0">
                <a:latin typeface="Book Antiqua" panose="02040602050305030304" pitchFamily="18" charset="0"/>
              </a:rPr>
              <a:t>City Traffic </a:t>
            </a:r>
            <a:r>
              <a:rPr dirty="0">
                <a:latin typeface="Book Antiqua" panose="02040602050305030304" pitchFamily="18" charset="0"/>
              </a:rPr>
              <a:t>Navigation</a:t>
            </a:r>
          </a:p>
          <a:p>
            <a:pPr>
              <a:lnSpc>
                <a:spcPct val="150000"/>
              </a:lnSpc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Domain</a:t>
            </a:r>
            <a:r>
              <a:rPr dirty="0"/>
              <a:t>: </a:t>
            </a:r>
            <a:r>
              <a:rPr dirty="0">
                <a:latin typeface="Bodoni MT" panose="02070603080606020203" pitchFamily="18" charset="0"/>
              </a:rPr>
              <a:t>Smart City &amp; Intelligent Transportation</a:t>
            </a:r>
          </a:p>
          <a:p>
            <a:pPr>
              <a:lnSpc>
                <a:spcPct val="150000"/>
              </a:lnSpc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</a:t>
            </a:r>
            <a:r>
              <a:rPr dirty="0">
                <a:latin typeface="Book Antiqua" panose="02040602050305030304" pitchFamily="18" charset="0"/>
              </a:rPr>
              <a:t>: Find optimal routes using graph algorithms</a:t>
            </a:r>
          </a:p>
          <a:p>
            <a:pPr>
              <a:lnSpc>
                <a:spcPct val="150000"/>
              </a:lnSpc>
            </a:pPr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Deployed Application</a:t>
            </a:r>
            <a:r>
              <a:rPr sz="1600" dirty="0">
                <a:hlinkClick r:id="rId2"/>
              </a:rPr>
              <a:t>:</a:t>
            </a:r>
            <a:r>
              <a:rPr lang="en-IN" sz="1600" dirty="0">
                <a:hlinkClick r:id="rId2"/>
              </a:rPr>
              <a:t> https://urbanpulse-navigation-production.up.railway.app/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Technologies</a:t>
            </a:r>
            <a:r>
              <a:rPr dirty="0"/>
              <a:t>: </a:t>
            </a:r>
            <a:r>
              <a:rPr dirty="0">
                <a:latin typeface="Book Antiqua" panose="02040602050305030304" pitchFamily="18" charset="0"/>
              </a:rPr>
              <a:t>Graph Data Structures, Mapping APIs, Web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67535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dirty="0">
                <a:latin typeface="Book Antiqua" panose="02040602050305030304" pitchFamily="18" charset="0"/>
              </a:rPr>
              <a:t>Urban traffic congestion increases travel time and fuel consumption.</a:t>
            </a:r>
          </a:p>
          <a:p>
            <a:pPr>
              <a:lnSpc>
                <a:spcPct val="150000"/>
              </a:lnSpc>
            </a:pPr>
            <a:r>
              <a:rPr dirty="0">
                <a:latin typeface="Book Antiqua" panose="02040602050305030304" pitchFamily="18" charset="0"/>
              </a:rPr>
              <a:t>Traditional static routing cannot adapt to dynamic road conditions.</a:t>
            </a:r>
          </a:p>
          <a:p>
            <a:pPr>
              <a:lnSpc>
                <a:spcPct val="150000"/>
              </a:lnSpc>
            </a:pPr>
            <a:r>
              <a:rPr dirty="0">
                <a:latin typeface="Book Antiqua" panose="02040602050305030304" pitchFamily="18" charset="0"/>
              </a:rPr>
              <a:t>Model city roads as nodes and edges in a weighted graph.</a:t>
            </a:r>
          </a:p>
          <a:p>
            <a:pPr>
              <a:lnSpc>
                <a:spcPct val="150000"/>
              </a:lnSpc>
            </a:pPr>
            <a:r>
              <a:rPr dirty="0">
                <a:latin typeface="Book Antiqua" panose="02040602050305030304" pitchFamily="18" charset="0"/>
              </a:rPr>
              <a:t>Calculate shortest and alternative paths efficiently.</a:t>
            </a:r>
          </a:p>
          <a:p>
            <a:pPr>
              <a:lnSpc>
                <a:spcPct val="150000"/>
              </a:lnSpc>
            </a:pPr>
            <a:r>
              <a:rPr dirty="0">
                <a:latin typeface="Book Antiqua" panose="02040602050305030304" pitchFamily="18" charset="0"/>
              </a:rPr>
              <a:t>Provide users with a responsive and intuitive navigation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System Architecture &amp; Graph Model</a:t>
            </a:r>
          </a:p>
        </p:txBody>
      </p:sp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15045B1D-AED4-407C-BC82-BF20E4E4F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948070"/>
            <a:ext cx="3579874" cy="3896140"/>
          </a:xfrm>
          <a:prstGeom prst="roundRect">
            <a:avLst>
              <a:gd name="adj" fmla="val 2028"/>
            </a:avLst>
          </a:prstGeom>
          <a:solidFill>
            <a:schemeClr val="tx1"/>
          </a:solidFill>
          <a:ln>
            <a:solidFill>
              <a:schemeClr val="accent1">
                <a:shade val="50000"/>
              </a:schemeClr>
            </a:solidFill>
          </a:ln>
          <a:effectLst>
            <a:innerShdw blurRad="127000" dist="12700">
              <a:prstClr val="black"/>
            </a:innerShdw>
            <a:reflection blurRad="6350" stA="52000" endA="300" endPos="2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4572000" y="1948069"/>
            <a:ext cx="3943349" cy="4228893"/>
          </a:xfrm>
        </p:spPr>
        <p:txBody>
          <a:bodyPr>
            <a:normAutofit/>
          </a:bodyPr>
          <a:lstStyle/>
          <a:p>
            <a:r>
              <a:rPr sz="2000" dirty="0">
                <a:latin typeface="Bahnschrift" panose="020B0502040204020203" pitchFamily="34" charset="0"/>
              </a:rPr>
              <a:t>Intersections are represented as vertices (nodes).</a:t>
            </a:r>
          </a:p>
          <a:p>
            <a:r>
              <a:rPr sz="2000" dirty="0">
                <a:latin typeface="Bahnschrift" panose="020B0502040204020203" pitchFamily="34" charset="0"/>
              </a:rPr>
              <a:t>Road segments are represented as edges with weights.</a:t>
            </a:r>
          </a:p>
          <a:p>
            <a:r>
              <a:rPr sz="2000" dirty="0">
                <a:latin typeface="Bahnschrift" panose="020B0502040204020203" pitchFamily="34" charset="0"/>
              </a:rPr>
              <a:t>Weights may include distance, travel time, or congestion level.</a:t>
            </a:r>
          </a:p>
          <a:p>
            <a:r>
              <a:rPr sz="2000" dirty="0">
                <a:latin typeface="Bahnschrift" panose="020B0502040204020203" pitchFamily="34" charset="0"/>
              </a:rPr>
              <a:t>Graph algorithms: Dijkstra’s Algorithm / A* Search.</a:t>
            </a:r>
          </a:p>
          <a:p>
            <a:r>
              <a:rPr sz="2000" dirty="0">
                <a:latin typeface="Bahnschrift" panose="020B0502040204020203" pitchFamily="34" charset="0"/>
              </a:rPr>
              <a:t>Frontend → Map Interface → Routing Engine → Traffic Dataset.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B67D2-9CCF-BBE8-980A-9FBEF012CB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73" r="30610" b="2"/>
          <a:stretch>
            <a:fillRect/>
          </a:stretch>
        </p:blipFill>
        <p:spPr>
          <a:xfrm>
            <a:off x="646112" y="1948071"/>
            <a:ext cx="3544949" cy="38961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504" y="182246"/>
            <a:ext cx="7886700" cy="1325563"/>
          </a:xfrm>
        </p:spPr>
        <p:txBody>
          <a:bodyPr/>
          <a:lstStyle/>
          <a:p>
            <a:pPr algn="ctr"/>
            <a:r>
              <a:rPr b="1" dirty="0"/>
              <a:t>Website Features &amp; Functional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504" y="1507809"/>
            <a:ext cx="5176752" cy="4351338"/>
          </a:xfrm>
        </p:spPr>
        <p:txBody>
          <a:bodyPr>
            <a:normAutofit/>
          </a:bodyPr>
          <a:lstStyle/>
          <a:p>
            <a:r>
              <a:rPr dirty="0">
                <a:latin typeface="Book Antiqua" panose="02040602050305030304" pitchFamily="18" charset="0"/>
              </a:rPr>
              <a:t>Interactive map-based interface for route selection.</a:t>
            </a:r>
          </a:p>
          <a:p>
            <a:r>
              <a:rPr dirty="0">
                <a:latin typeface="Book Antiqua" panose="02040602050305030304" pitchFamily="18" charset="0"/>
              </a:rPr>
              <a:t>Source and destination input with route visualization.</a:t>
            </a:r>
          </a:p>
          <a:p>
            <a:r>
              <a:rPr dirty="0">
                <a:latin typeface="Book Antiqua" panose="02040602050305030304" pitchFamily="18" charset="0"/>
              </a:rPr>
              <a:t>Shortest path computation using graph traversal algorithms.</a:t>
            </a:r>
          </a:p>
          <a:p>
            <a:r>
              <a:rPr dirty="0">
                <a:latin typeface="Book Antiqua" panose="02040602050305030304" pitchFamily="18" charset="0"/>
              </a:rPr>
              <a:t>Estimated distance and travel-time display.</a:t>
            </a:r>
          </a:p>
          <a:p>
            <a:r>
              <a:rPr dirty="0">
                <a:latin typeface="Book Antiqua" panose="02040602050305030304" pitchFamily="18" charset="0"/>
              </a:rPr>
              <a:t>Potential enhancements: live traffic APIs, congestion prediction, and incident alerts.</a:t>
            </a:r>
          </a:p>
          <a:p>
            <a:pPr marL="0" indent="0">
              <a:buNone/>
            </a:pPr>
            <a:endParaRPr dirty="0">
              <a:latin typeface="Book Antiqua" panose="020406020503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D894D-5CC3-C469-D447-20B9ADFF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903" y="812061"/>
            <a:ext cx="2486817" cy="4961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F53BA6-E1F4-5267-C087-235592F39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68" y="5773474"/>
            <a:ext cx="8586216" cy="902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Results, Benefits &amp; 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754B26-DFE3-68F0-A413-26E77C569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103421"/>
              </p:ext>
            </p:extLst>
          </p:nvPr>
        </p:nvGraphicFramePr>
        <p:xfrm>
          <a:off x="734616" y="1825625"/>
          <a:ext cx="767476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ADFCD-0AC9-BBF7-6905-C8B1319A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2770631"/>
            <a:ext cx="8677656" cy="17282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dirty="0">
                <a:latin typeface="Blackadder ITC" panose="04020505051007020D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78110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33</TotalTime>
  <Words>271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ADLaM Display</vt:lpstr>
      <vt:lpstr>Arial</vt:lpstr>
      <vt:lpstr>Arial Rounded MT Bold</vt:lpstr>
      <vt:lpstr>Bahnschrift</vt:lpstr>
      <vt:lpstr>Blackadder ITC</vt:lpstr>
      <vt:lpstr>Bodoni MT</vt:lpstr>
      <vt:lpstr>Book Antiqua</vt:lpstr>
      <vt:lpstr>Corbel</vt:lpstr>
      <vt:lpstr>Depth</vt:lpstr>
      <vt:lpstr>City Traffic Navigation System using Graph Data Structure</vt:lpstr>
      <vt:lpstr>Problem Statement &amp; Objectives</vt:lpstr>
      <vt:lpstr>System Architecture &amp; Graph Model</vt:lpstr>
      <vt:lpstr>Website Features &amp; Functional Analysis</vt:lpstr>
      <vt:lpstr>Results, Benefits &amp; 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Teja kiran</dc:creator>
  <cp:keywords/>
  <dc:description>generated using python-pptx</dc:description>
  <cp:lastModifiedBy>Teja kiran</cp:lastModifiedBy>
  <cp:revision>4</cp:revision>
  <dcterms:created xsi:type="dcterms:W3CDTF">2013-01-27T09:14:16Z</dcterms:created>
  <dcterms:modified xsi:type="dcterms:W3CDTF">2026-06-22T12:28:27Z</dcterms:modified>
  <cp:category/>
</cp:coreProperties>
</file>